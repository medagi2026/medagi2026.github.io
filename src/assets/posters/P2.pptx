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72" r:id="rId5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 userDrawn="1">
          <p15:clr>
            <a:srgbClr val="A4A3A4"/>
          </p15:clr>
        </p15:guide>
        <p15:guide id="2" pos="95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D79"/>
    <a:srgbClr val="FFFFFF"/>
    <a:srgbClr val="BD252C"/>
    <a:srgbClr val="971F26"/>
    <a:srgbClr val="FFFF00"/>
    <a:srgbClr val="DCDC15"/>
    <a:srgbClr val="FFD966"/>
    <a:srgbClr val="FFFF01"/>
    <a:srgbClr val="273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3A53E5-5EFF-42E6-A37C-127D979E545F}" v="431" dt="2025-09-12T12:06:51.379"/>
    <p1510:client id="{682F771F-3F32-614F-8C52-6ADB57649281}" v="2165" dt="2025-09-13T02:49:55.570"/>
    <p1510:client id="{72482D1F-CDF8-A549-A2AD-3ADB467EF030}" v="723" dt="2025-09-12T10:54:46.918"/>
    <p1510:client id="{8CC4F5BF-30C6-45B6-A977-375C87AE865C}" v="150" dt="2025-09-12T16:41:55.245"/>
    <p1510:client id="{C40E3915-F7E9-4FBD-B8ED-598064807433}" v="146" dt="2025-09-13T03:42:56.487"/>
    <p1510:client id="{D73FB4DC-86AD-41CD-9AB7-9BACCD581242}" v="695" dt="2025-09-12T12:14:46.161"/>
    <p1510:client id="{F9E70D10-8A4A-41A0-BA1C-3A41AA887E95}" v="606" dt="2025-09-12T15:51:12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9" y="38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27F99-A83E-4142-A04F-27E90EA73CD3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A3C83-F318-6847-8D00-AD94D0DB65E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935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A5689-35A7-6329-EC81-3E12A499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4C6778-EC61-FA0E-228B-183BF49A6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0DD1CE-59C3-B267-C8E5-FFA96A559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747D04-D130-E7DD-78DA-FD70EBF0A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A3C83-F318-6847-8D00-AD94D0DB65E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237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43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2655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961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0639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2042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9058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02455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8989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26853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0241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6238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FA25F-E529-FB44-8B78-2A2679BFE347}" type="datetimeFigureOut">
              <a:rPr lang="en-TR" smtClean="0"/>
              <a:t>09/03/2026</a:t>
            </a:fld>
            <a:endParaRPr lang="en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00371-E477-1546-B22B-47DA4AEBA0FE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5497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295C-68C0-A436-0BB1-89BB3CBF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CD071470-3120-274E-F396-E04ACD1ED3DA}"/>
              </a:ext>
            </a:extLst>
          </p:cNvPr>
          <p:cNvSpPr/>
          <p:nvPr/>
        </p:nvSpPr>
        <p:spPr>
          <a:xfrm>
            <a:off x="231185" y="13773348"/>
            <a:ext cx="29837243" cy="12140437"/>
          </a:xfrm>
          <a:prstGeom prst="roundRect">
            <a:avLst>
              <a:gd name="adj" fmla="val 5216"/>
            </a:avLst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D80C5F9-CF92-78E0-85B0-D2439149BF21}"/>
              </a:ext>
            </a:extLst>
          </p:cNvPr>
          <p:cNvSpPr/>
          <p:nvPr/>
        </p:nvSpPr>
        <p:spPr>
          <a:xfrm>
            <a:off x="15289766" y="6785999"/>
            <a:ext cx="14774174" cy="6080675"/>
          </a:xfrm>
          <a:prstGeom prst="roundRect">
            <a:avLst>
              <a:gd name="adj" fmla="val 4494"/>
            </a:avLst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4534209-572E-491D-9B09-42E9FD1E5ADE}"/>
              </a:ext>
            </a:extLst>
          </p:cNvPr>
          <p:cNvSpPr/>
          <p:nvPr/>
        </p:nvSpPr>
        <p:spPr>
          <a:xfrm>
            <a:off x="231185" y="6784284"/>
            <a:ext cx="14876006" cy="6080675"/>
          </a:xfrm>
          <a:prstGeom prst="roundRect">
            <a:avLst>
              <a:gd name="adj" fmla="val 6260"/>
            </a:avLst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83514D0-F733-D9C5-A215-42847408F547}"/>
              </a:ext>
            </a:extLst>
          </p:cNvPr>
          <p:cNvSpPr/>
          <p:nvPr/>
        </p:nvSpPr>
        <p:spPr>
          <a:xfrm>
            <a:off x="3730719" y="6370087"/>
            <a:ext cx="7884000" cy="859354"/>
          </a:xfrm>
          <a:prstGeom prst="roundRect">
            <a:avLst/>
          </a:prstGeom>
          <a:solidFill>
            <a:srgbClr val="273E79"/>
          </a:solidFill>
          <a:ln>
            <a:solidFill>
              <a:srgbClr val="273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000" b="1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Introduction</a:t>
            </a:r>
            <a:endParaRPr kumimoji="1" lang="ko-KR" altLang="en-US" sz="5000" b="1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1E0DF48-1EE8-A934-BD5D-67DBD6E43906}"/>
              </a:ext>
            </a:extLst>
          </p:cNvPr>
          <p:cNvSpPr/>
          <p:nvPr/>
        </p:nvSpPr>
        <p:spPr>
          <a:xfrm>
            <a:off x="18817251" y="6372000"/>
            <a:ext cx="7884000" cy="859354"/>
          </a:xfrm>
          <a:prstGeom prst="roundRect">
            <a:avLst/>
          </a:prstGeom>
          <a:solidFill>
            <a:srgbClr val="273E79"/>
          </a:solidFill>
          <a:ln>
            <a:solidFill>
              <a:srgbClr val="273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000" b="1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Our Contribution</a:t>
            </a:r>
            <a:endParaRPr kumimoji="1" lang="ko-KR" altLang="en-US" sz="5000" b="1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06BE9EA-D968-DCB4-430C-953CA7F13F48}"/>
              </a:ext>
            </a:extLst>
          </p:cNvPr>
          <p:cNvSpPr/>
          <p:nvPr/>
        </p:nvSpPr>
        <p:spPr>
          <a:xfrm>
            <a:off x="9598924" y="13312776"/>
            <a:ext cx="11091001" cy="859354"/>
          </a:xfrm>
          <a:prstGeom prst="roundRect">
            <a:avLst/>
          </a:prstGeom>
          <a:solidFill>
            <a:srgbClr val="273E79"/>
          </a:solidFill>
          <a:ln>
            <a:solidFill>
              <a:srgbClr val="273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000" b="1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Methods</a:t>
            </a:r>
            <a:endParaRPr kumimoji="1" lang="ko-KR" altLang="en-US" sz="5000" b="1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D90C32D-B860-068B-9B8E-897B37072BE1}"/>
              </a:ext>
            </a:extLst>
          </p:cNvPr>
          <p:cNvSpPr txBox="1"/>
          <p:nvPr/>
        </p:nvSpPr>
        <p:spPr>
          <a:xfrm>
            <a:off x="3526135" y="1118334"/>
            <a:ext cx="230113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6000" b="1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A Resource-Constrained Evaluation of Lightweight Adaptation for Cross-Dataset Chest X-ray Report Generation</a:t>
            </a:r>
            <a:endParaRPr kumimoji="1" lang="en-US" altLang="ko-KR" sz="1200" b="1" dirty="0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FABF22-5D97-FB63-E8EF-F85995C0370B}"/>
              </a:ext>
            </a:extLst>
          </p:cNvPr>
          <p:cNvSpPr txBox="1"/>
          <p:nvPr/>
        </p:nvSpPr>
        <p:spPr>
          <a:xfrm>
            <a:off x="15736417" y="7367476"/>
            <a:ext cx="13977240" cy="51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30" b="1" dirty="0"/>
              <a:t>B</a:t>
            </a:r>
            <a:r>
              <a:rPr lang="en" altLang="ko-KR" sz="2830" b="1" dirty="0"/>
              <a:t>enchmark </a:t>
            </a:r>
            <a:r>
              <a:rPr lang="en" altLang="ko-KR" sz="2830" dirty="0"/>
              <a:t>lightweight adaptation strategies for cross-dataset chest X-ray report generation, including </a:t>
            </a:r>
            <a:r>
              <a:rPr lang="en" altLang="ko-KR" sz="2830" b="1" dirty="0">
                <a:solidFill>
                  <a:srgbClr val="273D79"/>
                </a:solidFill>
              </a:rPr>
              <a:t>four LoRA-based variants</a:t>
            </a:r>
            <a:r>
              <a:rPr lang="en" altLang="ko-KR" sz="2830" dirty="0"/>
              <a:t>, </a:t>
            </a:r>
            <a:r>
              <a:rPr lang="en" altLang="ko-KR" sz="2830" b="1" dirty="0">
                <a:solidFill>
                  <a:srgbClr val="273D79"/>
                </a:solidFill>
              </a:rPr>
              <a:t>router-only MoME-TTA</a:t>
            </a:r>
            <a:r>
              <a:rPr lang="en" altLang="ko-KR" sz="2830" dirty="0"/>
              <a:t>, and </a:t>
            </a:r>
            <a:r>
              <a:rPr lang="en" altLang="ko-KR" sz="2830" b="1" dirty="0">
                <a:solidFill>
                  <a:srgbClr val="273D79"/>
                </a:solidFill>
              </a:rPr>
              <a:t>MetaVIB</a:t>
            </a:r>
            <a:r>
              <a:rPr lang="en" altLang="ko-KR" sz="2830" dirty="0"/>
              <a:t>.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30" dirty="0"/>
              <a:t>Q</a:t>
            </a:r>
            <a:r>
              <a:rPr lang="en" altLang="ko-KR" sz="2830" dirty="0"/>
              <a:t>uantify the IU X-Ray-to-CheXpert Plus visual domain gap using </a:t>
            </a:r>
            <a:r>
              <a:rPr lang="en" altLang="ko-KR" sz="2830" b="1" dirty="0">
                <a:solidFill>
                  <a:srgbClr val="273D79"/>
                </a:solidFill>
              </a:rPr>
              <a:t>feature-space Mahalanobis distance </a:t>
            </a:r>
            <a:r>
              <a:rPr lang="en" altLang="ko-KR" sz="2830" dirty="0"/>
              <a:t>and show strong separation in the BiomedGPT visual representation.</a:t>
            </a:r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30" dirty="0"/>
              <a:t>Adapt a </a:t>
            </a:r>
            <a:r>
              <a:rPr lang="en-US" altLang="ko-KR" sz="2830" b="1" dirty="0"/>
              <a:t>classification-oriented TTA approach </a:t>
            </a:r>
            <a:r>
              <a:rPr lang="en-US" altLang="ko-KR" sz="2830" dirty="0"/>
              <a:t>to an </a:t>
            </a:r>
            <a:r>
              <a:rPr lang="en-US" altLang="ko-KR" sz="2830" b="1" dirty="0">
                <a:solidFill>
                  <a:srgbClr val="273D79"/>
                </a:solidFill>
              </a:rPr>
              <a:t>autoregressive report generation </a:t>
            </a:r>
            <a:r>
              <a:rPr lang="en-US" altLang="ko-KR" sz="2830" dirty="0"/>
              <a:t>backbone and analyze the limitations of router-only inference-time adaptation.</a:t>
            </a:r>
            <a:endParaRPr lang="en" altLang="ko-KR" sz="2830" dirty="0"/>
          </a:p>
          <a:p>
            <a:pPr marL="45720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30" dirty="0"/>
              <a:t>S</a:t>
            </a:r>
            <a:r>
              <a:rPr lang="en" altLang="ko-KR" sz="2830" dirty="0"/>
              <a:t>how </a:t>
            </a:r>
            <a:r>
              <a:rPr lang="en-US" altLang="ko-KR" sz="2830" dirty="0"/>
              <a:t>that small improvements in </a:t>
            </a:r>
            <a:r>
              <a:rPr lang="en-US" altLang="ko-KR" sz="2830" b="1" dirty="0"/>
              <a:t>lexical metrics </a:t>
            </a:r>
            <a:r>
              <a:rPr lang="en-US" altLang="ko-KR" sz="2830" dirty="0"/>
              <a:t>do not necessarily correspond to clinically better reports, highlighting the need for </a:t>
            </a:r>
            <a:r>
              <a:rPr lang="en-US" altLang="ko-KR" sz="2830" b="1" dirty="0"/>
              <a:t>evaluation protocols that capture omissions, unsupported findings, and target-domain report style</a:t>
            </a:r>
            <a:r>
              <a:rPr lang="en-US" altLang="ko-KR" sz="2830" dirty="0"/>
              <a:t>.</a:t>
            </a:r>
            <a:endParaRPr lang="en" altLang="ko-KR" sz="2830" dirty="0"/>
          </a:p>
        </p:txBody>
      </p:sp>
      <p:pic>
        <p:nvPicPr>
          <p:cNvPr id="45" name="그림 44" descr="폰트, 텍스트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B4D1B6-A0FA-89EC-0EA8-7624846D8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76" y="4630245"/>
            <a:ext cx="5286681" cy="118116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FBE1475-A467-5274-3F42-D752245F6D7B}"/>
              </a:ext>
            </a:extLst>
          </p:cNvPr>
          <p:cNvSpPr txBox="1"/>
          <p:nvPr/>
        </p:nvSpPr>
        <p:spPr>
          <a:xfrm>
            <a:off x="5139704" y="3487816"/>
            <a:ext cx="1972369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u="sng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Minji Kim</a:t>
            </a:r>
            <a:r>
              <a:rPr kumimoji="1" lang="en-US" altLang="ko-KR" sz="4000" baseline="30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1</a:t>
            </a:r>
            <a:r>
              <a:rPr kumimoji="1" lang="en-US" altLang="ko-KR" sz="4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, </a:t>
            </a:r>
            <a:r>
              <a:rPr kumimoji="1" lang="en-US" altLang="ko-KR" sz="4000" u="sng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Seun Kim</a:t>
            </a:r>
            <a:r>
              <a:rPr kumimoji="1" lang="en-US" altLang="ko-KR" sz="4000" baseline="30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1</a:t>
            </a:r>
            <a:r>
              <a:rPr kumimoji="1" lang="en-US" altLang="ko-KR" sz="4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,</a:t>
            </a:r>
            <a:r>
              <a:rPr kumimoji="1" lang="ko-KR" altLang="en-US" sz="4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 </a:t>
            </a:r>
            <a:r>
              <a:rPr kumimoji="1" lang="en-US" altLang="ko-KR" sz="4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Jang-Hwan Choi</a:t>
            </a:r>
            <a:r>
              <a:rPr kumimoji="1" lang="en-US" altLang="ko-KR" sz="4000" baseline="30000" dirty="0">
                <a:latin typeface="EHWA" panose="02000300000000000000" pitchFamily="2" charset="-127"/>
                <a:ea typeface="EHWA" panose="02000300000000000000" pitchFamily="2" charset="-127"/>
                <a:cs typeface="Times New Roman" panose="02020603050405020304" pitchFamily="18" charset="0"/>
              </a:rPr>
              <a:t>1,2</a:t>
            </a:r>
            <a:r>
              <a:rPr lang="ko-KR" altLang="en-US" sz="4000" baseline="30000" dirty="0">
                <a:effectLst/>
                <a:latin typeface="EHWA" panose="02000300000000000000" pitchFamily="2" charset="-127"/>
                <a:ea typeface="EHWA" panose="02000300000000000000" pitchFamily="2" charset="-127"/>
                <a:cs typeface="Times New Roman" panose="02020603050405020304" pitchFamily="18" charset="0"/>
              </a:rPr>
              <a:t>♱</a:t>
            </a:r>
            <a:r>
              <a:rPr kumimoji="1" lang="ko-KR" altLang="en-US" sz="4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    </a:t>
            </a:r>
            <a:endParaRPr kumimoji="1" lang="en-US" altLang="ko-KR" sz="4000" dirty="0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  <a:p>
            <a:pPr algn="ctr"/>
            <a:r>
              <a:rPr kumimoji="1" lang="ko-KR" altLang="en-US" sz="1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 </a:t>
            </a:r>
            <a:endParaRPr kumimoji="1" lang="en-US" altLang="ko-KR" sz="1000" dirty="0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  <a:p>
            <a:pPr algn="ctr"/>
            <a:r>
              <a:rPr lang="en-US" altLang="ko-KR" sz="3200" baseline="30000" dirty="0">
                <a:effectLst/>
                <a:latin typeface="EHWA" panose="02000300000000000000" pitchFamily="2" charset="-127"/>
                <a:ea typeface="EHWA" panose="02000300000000000000" pitchFamily="2" charset="-127"/>
                <a:cs typeface="Times New Roman" panose="02020603050405020304" pitchFamily="18" charset="0"/>
              </a:rPr>
              <a:t>1</a:t>
            </a:r>
            <a:r>
              <a:rPr kumimoji="1" lang="en" altLang="ko-KR" sz="28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Department of Artificial Intelligence, Ewha Womans Universit</a:t>
            </a:r>
            <a:r>
              <a:rPr kumimoji="1" lang="en-US" altLang="ko-KR" sz="28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y</a:t>
            </a:r>
            <a:r>
              <a:rPr kumimoji="1" lang="en" altLang="ko-KR" sz="28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, Seoul, Korea,</a:t>
            </a:r>
          </a:p>
          <a:p>
            <a:pPr algn="ctr"/>
            <a:r>
              <a:rPr kumimoji="1" lang="en-US" altLang="ko-KR" sz="3200" baseline="300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2</a:t>
            </a:r>
            <a:r>
              <a:rPr kumimoji="1" lang="en" altLang="ko-KR" sz="2800" dirty="0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Department of Artificial Intelligence and Software, Ewha Womans University, Seoul, Korea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FABBB0-A7B3-0F4C-4902-64AA46116C39}"/>
              </a:ext>
            </a:extLst>
          </p:cNvPr>
          <p:cNvSpPr/>
          <p:nvPr/>
        </p:nvSpPr>
        <p:spPr>
          <a:xfrm>
            <a:off x="-4826" y="-102803"/>
            <a:ext cx="30276000" cy="468000"/>
          </a:xfrm>
          <a:prstGeom prst="rect">
            <a:avLst/>
          </a:prstGeom>
          <a:solidFill>
            <a:srgbClr val="273E79"/>
          </a:solidFill>
          <a:ln>
            <a:solidFill>
              <a:srgbClr val="273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5000" b="1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B5244FC-1A4D-878C-BD78-3527D3E75F99}"/>
              </a:ext>
            </a:extLst>
          </p:cNvPr>
          <p:cNvSpPr/>
          <p:nvPr/>
        </p:nvSpPr>
        <p:spPr>
          <a:xfrm>
            <a:off x="266038" y="28741240"/>
            <a:ext cx="29751259" cy="13837800"/>
          </a:xfrm>
          <a:prstGeom prst="roundRect">
            <a:avLst>
              <a:gd name="adj" fmla="val 4902"/>
            </a:avLst>
          </a:prstGeom>
          <a:noFill/>
          <a:ln w="38100">
            <a:solidFill>
              <a:srgbClr val="273D7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431A440-9932-ABBF-A4CC-C65F1E4DCEAE}"/>
              </a:ext>
            </a:extLst>
          </p:cNvPr>
          <p:cNvSpPr/>
          <p:nvPr/>
        </p:nvSpPr>
        <p:spPr>
          <a:xfrm>
            <a:off x="9426075" y="28337989"/>
            <a:ext cx="11551446" cy="814551"/>
          </a:xfrm>
          <a:prstGeom prst="roundRect">
            <a:avLst/>
          </a:prstGeom>
          <a:solidFill>
            <a:srgbClr val="273E79"/>
          </a:solidFill>
          <a:ln>
            <a:solidFill>
              <a:srgbClr val="273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5000" b="1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Results</a:t>
            </a:r>
            <a:r>
              <a:rPr kumimoji="1" lang="ko-KR" altLang="en-US" sz="5000" b="1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 </a:t>
            </a:r>
            <a:r>
              <a:rPr kumimoji="1" lang="en-US" altLang="ko-KR" sz="5000" b="1">
                <a:latin typeface="EHWA" panose="02000300000000000000" pitchFamily="2" charset="-127"/>
                <a:ea typeface="EHWA" panose="02000300000000000000" pitchFamily="2" charset="-127"/>
                <a:cs typeface="Pretendard Variable Medium" panose="02000003000000020004" pitchFamily="2" charset="-127"/>
              </a:rPr>
              <a:t> </a:t>
            </a:r>
            <a:endParaRPr kumimoji="1" lang="ko-KR" altLang="en-US" sz="5000" b="1">
              <a:latin typeface="EHWA" panose="02000300000000000000" pitchFamily="2" charset="-127"/>
              <a:ea typeface="EHWA" panose="02000300000000000000" pitchFamily="2" charset="-127"/>
              <a:cs typeface="Pretendard Variable Medium" panose="02000003000000020004" pitchFamily="2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B22F472-82DF-9932-AE44-FF0146E15992}"/>
              </a:ext>
            </a:extLst>
          </p:cNvPr>
          <p:cNvGrpSpPr/>
          <p:nvPr/>
        </p:nvGrpSpPr>
        <p:grpSpPr>
          <a:xfrm>
            <a:off x="571579" y="26370985"/>
            <a:ext cx="29142077" cy="1511464"/>
            <a:chOff x="571579" y="25661633"/>
            <a:chExt cx="29142077" cy="1511464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E6B560CC-8518-D98F-B43C-05A8D23BAFA6}"/>
                </a:ext>
              </a:extLst>
            </p:cNvPr>
            <p:cNvSpPr/>
            <p:nvPr/>
          </p:nvSpPr>
          <p:spPr>
            <a:xfrm>
              <a:off x="571579" y="25661633"/>
              <a:ext cx="29142077" cy="151146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C38A4F-415F-259D-434B-9BE4722966E4}"/>
                </a:ext>
              </a:extLst>
            </p:cNvPr>
            <p:cNvSpPr txBox="1"/>
            <p:nvPr/>
          </p:nvSpPr>
          <p:spPr>
            <a:xfrm>
              <a:off x="4402328" y="25738101"/>
              <a:ext cx="21477961" cy="13210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r>
                <a:rPr lang="ko-KR" altLang="en-US" sz="3200" dirty="0"/>
                <a:t>➔ </a:t>
              </a:r>
              <a:r>
                <a:rPr kumimoji="0" lang="en-US" altLang="ko-KR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We provide </a:t>
              </a:r>
              <a:r>
                <a:rPr kumimoji="0" lang="en-US" altLang="ko-KR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a controlled diagnostic study of what currently fails and why</a:t>
              </a:r>
              <a:r>
                <a:rPr kumimoji="0" lang="en-US" altLang="ko-KR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, by comparing </a:t>
              </a:r>
              <a:r>
                <a:rPr kumimoji="0" lang="en-US" altLang="ko-KR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273D79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lightweight adaptation strategies </a:t>
              </a:r>
              <a:r>
                <a:rPr kumimoji="0" lang="en-US" altLang="ko-KR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for an</a:t>
              </a:r>
              <a:r>
                <a:rPr kumimoji="0" lang="en-US" altLang="ko-KR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 IU X-Ray-pretrained </a:t>
              </a:r>
              <a:r>
                <a:rPr kumimoji="0" lang="en-US" altLang="ko-KR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BiomedGPT</a:t>
              </a:r>
              <a:r>
                <a:rPr kumimoji="0" lang="en-US" altLang="ko-KR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 model transferred to </a:t>
              </a:r>
              <a:r>
                <a:rPr kumimoji="0" lang="en-US" altLang="ko-KR" sz="32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CheXpert</a:t>
              </a:r>
              <a:r>
                <a:rPr kumimoji="0" lang="en-US" altLang="ko-KR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 Plus</a:t>
              </a:r>
              <a:r>
                <a:rPr kumimoji="0" lang="en-US" altLang="ko-KR" sz="32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lt"/>
                  <a:cs typeface="Calibri" panose="020F0502020204030204"/>
                </a:rPr>
                <a:t>.</a:t>
              </a:r>
            </a:p>
          </p:txBody>
        </p: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B687C3F-0BBC-6D0F-0C78-75C6350CF006}"/>
              </a:ext>
            </a:extLst>
          </p:cNvPr>
          <p:cNvSpPr/>
          <p:nvPr/>
        </p:nvSpPr>
        <p:spPr>
          <a:xfrm>
            <a:off x="419179" y="29075133"/>
            <a:ext cx="12566786" cy="386036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endParaRPr lang="en-US" altLang="ko-KR" sz="908" b="1" dirty="0">
              <a:solidFill>
                <a:schemeClr val="tx1"/>
              </a:solidFill>
            </a:endParaRPr>
          </a:p>
          <a:p>
            <a:pPr marL="461452" indent="-461452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altLang="ko-KR" sz="3230" b="1" dirty="0">
                <a:solidFill>
                  <a:srgbClr val="222222"/>
                </a:solidFill>
              </a:rPr>
              <a:t>Quantitative Evaluation</a:t>
            </a:r>
            <a:br>
              <a:rPr lang="en-US" altLang="ko-KR" sz="3230" b="1" dirty="0">
                <a:solidFill>
                  <a:schemeClr val="tx1"/>
                </a:solidFill>
              </a:rPr>
            </a:br>
            <a:r>
              <a:rPr lang="en-US" altLang="ko-KR" sz="2800" dirty="0">
                <a:solidFill>
                  <a:schemeClr val="tx1"/>
                </a:solidFill>
              </a:rPr>
              <a:t>Generated reports are evaluated using NLG (Natural Language Generation) metrics such as ROUGE and BLEU.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5EA8AC9-4309-5F84-5029-2487FDC11973}"/>
              </a:ext>
            </a:extLst>
          </p:cNvPr>
          <p:cNvSpPr txBox="1"/>
          <p:nvPr/>
        </p:nvSpPr>
        <p:spPr>
          <a:xfrm>
            <a:off x="278977" y="7450916"/>
            <a:ext cx="14595264" cy="46500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30" b="1" dirty="0">
                <a:ea typeface="+mn-lt"/>
                <a:cs typeface="+mn-lt"/>
              </a:rPr>
              <a:t>Challenge:</a:t>
            </a:r>
            <a:r>
              <a:rPr lang="en-US" altLang="ko-KR" sz="2830" dirty="0">
                <a:ea typeface="+mn-lt"/>
                <a:cs typeface="+mn-lt"/>
              </a:rPr>
              <a:t> </a:t>
            </a:r>
            <a:r>
              <a:rPr lang="en-US" altLang="ko-KR" sz="2830" b="1" dirty="0">
                <a:solidFill>
                  <a:srgbClr val="273D79"/>
                </a:solidFill>
                <a:ea typeface="+mn-lt"/>
                <a:cs typeface="+mn-lt"/>
              </a:rPr>
              <a:t>Severe visual and linguistic domain shifts </a:t>
            </a:r>
            <a:r>
              <a:rPr lang="en-US" altLang="ko-KR" sz="2830" dirty="0">
                <a:ea typeface="+mn-lt"/>
                <a:cs typeface="+mn-lt"/>
              </a:rPr>
              <a:t>(IU X-Ray </a:t>
            </a:r>
            <a:r>
              <a:rPr lang="ko-KR" altLang="ko-KR" sz="3200" dirty="0"/>
              <a:t>→</a:t>
            </a:r>
            <a:r>
              <a:rPr lang="en-US" altLang="ko-KR" sz="2830" dirty="0">
                <a:ea typeface="+mn-lt"/>
                <a:cs typeface="+mn-lt"/>
              </a:rPr>
              <a:t> </a:t>
            </a:r>
            <a:r>
              <a:rPr lang="en-US" altLang="ko-KR" sz="2830" dirty="0" err="1">
                <a:ea typeface="+mn-lt"/>
                <a:cs typeface="+mn-lt"/>
              </a:rPr>
              <a:t>CheXpert</a:t>
            </a:r>
            <a:r>
              <a:rPr lang="en-US" altLang="ko-KR" sz="2830" dirty="0">
                <a:ea typeface="+mn-lt"/>
                <a:cs typeface="+mn-lt"/>
              </a:rPr>
              <a:t> Plus) involves substantial differences is both visual characteristics and report-writing styles, making </a:t>
            </a:r>
            <a:r>
              <a:rPr lang="en-US" altLang="ko-KR" sz="2830" b="1" dirty="0">
                <a:solidFill>
                  <a:srgbClr val="273D79"/>
                </a:solidFill>
                <a:ea typeface="+mn-lt"/>
                <a:cs typeface="+mn-lt"/>
              </a:rPr>
              <a:t>cross-dataset report generation clinically unreliable</a:t>
            </a:r>
            <a:r>
              <a:rPr lang="en-US" altLang="ko-KR" sz="2830" dirty="0">
                <a:ea typeface="+mn-lt"/>
                <a:cs typeface="+mn-lt"/>
              </a:rPr>
              <a:t>.</a:t>
            </a:r>
          </a:p>
          <a:p>
            <a:pPr marL="74295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30" b="1" dirty="0">
                <a:ea typeface="+mn-lt"/>
                <a:cs typeface="+mn-lt"/>
              </a:rPr>
              <a:t>Conventional limits:</a:t>
            </a:r>
            <a:r>
              <a:rPr lang="en-US" altLang="ko-KR" sz="2830" dirty="0">
                <a:ea typeface="+mn-lt"/>
                <a:cs typeface="+mn-lt"/>
              </a:rPr>
              <a:t> Existing lightweight adaptation methods are mainly designed for classification and </a:t>
            </a:r>
            <a:r>
              <a:rPr lang="en-US" altLang="ko-KR" sz="2830" b="1" dirty="0">
                <a:solidFill>
                  <a:srgbClr val="273D79"/>
                </a:solidFill>
                <a:ea typeface="+mn-lt"/>
                <a:cs typeface="+mn-lt"/>
              </a:rPr>
              <a:t>may not adequately adapt autoregressive language generation</a:t>
            </a:r>
            <a:r>
              <a:rPr lang="en-US" altLang="ko-KR" sz="2830" dirty="0">
                <a:ea typeface="+mn-lt"/>
                <a:cs typeface="+mn-lt"/>
              </a:rPr>
              <a:t>.</a:t>
            </a:r>
            <a:endParaRPr lang="en-US" altLang="ko-KR" sz="2830" dirty="0">
              <a:ea typeface="Calibri" panose="020F0502020204030204"/>
              <a:cs typeface="Calibri" panose="020F0502020204030204"/>
            </a:endParaRPr>
          </a:p>
          <a:p>
            <a:pPr marL="742950" indent="-4572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30" b="1" dirty="0">
                <a:ea typeface="+mn-lt"/>
                <a:cs typeface="+mn-lt"/>
              </a:rPr>
              <a:t>Motivation:</a:t>
            </a:r>
            <a:r>
              <a:rPr lang="en-US" altLang="ko-KR" sz="2830" dirty="0">
                <a:ea typeface="+mn-lt"/>
                <a:cs typeface="+mn-lt"/>
              </a:rPr>
              <a:t> Investigate whether lightweight adaptation can improve cross-domain report generation under </a:t>
            </a:r>
            <a:r>
              <a:rPr lang="en-US" altLang="ko-KR" sz="2830" b="1" dirty="0">
                <a:solidFill>
                  <a:srgbClr val="273D79"/>
                </a:solidFill>
                <a:ea typeface="+mn-lt"/>
                <a:cs typeface="+mn-lt"/>
              </a:rPr>
              <a:t>limited computational resources</a:t>
            </a:r>
            <a:r>
              <a:rPr lang="en-US" altLang="ko-KR" sz="2830" dirty="0">
                <a:ea typeface="+mn-lt"/>
                <a:cs typeface="+mn-lt"/>
              </a:rPr>
              <a:t>, and diagnose why </a:t>
            </a:r>
            <a:r>
              <a:rPr lang="en-US" altLang="ko-KR" sz="2830" b="1" dirty="0">
                <a:ea typeface="+mn-lt"/>
                <a:cs typeface="+mn-lt"/>
              </a:rPr>
              <a:t>visual adaptation alone may be insufficient.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C937425-F9E1-E1F6-366F-C25B9503B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76" y="2086703"/>
            <a:ext cx="4942671" cy="1813208"/>
          </a:xfrm>
          <a:prstGeom prst="rect">
            <a:avLst/>
          </a:prstGeom>
        </p:spPr>
      </p:pic>
      <p:pic>
        <p:nvPicPr>
          <p:cNvPr id="40" name="그래픽 39">
            <a:extLst>
              <a:ext uri="{FF2B5EF4-FFF2-40B4-BE49-F238E27FC236}">
                <a16:creationId xmlns:a16="http://schemas.microsoft.com/office/drawing/2014/main" id="{4173C05B-2CC3-2EA1-5634-8A8CCA961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9180"/>
          <a:stretch>
            <a:fillRect/>
          </a:stretch>
        </p:blipFill>
        <p:spPr>
          <a:xfrm>
            <a:off x="26765268" y="2111268"/>
            <a:ext cx="2555590" cy="1892115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7C7F869E-969B-F2C4-4FCB-7D7109D2492C}"/>
              </a:ext>
            </a:extLst>
          </p:cNvPr>
          <p:cNvSpPr/>
          <p:nvPr/>
        </p:nvSpPr>
        <p:spPr>
          <a:xfrm>
            <a:off x="404905" y="37577113"/>
            <a:ext cx="29837243" cy="5459127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endParaRPr lang="en-US" altLang="ko-KR" sz="908" b="1" dirty="0">
              <a:solidFill>
                <a:schemeClr val="tx1"/>
              </a:solidFill>
            </a:endParaRPr>
          </a:p>
          <a:p>
            <a:pPr marL="461452" indent="-461452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altLang="ko-KR" sz="3230" b="1" dirty="0">
                <a:solidFill>
                  <a:srgbClr val="222222"/>
                </a:solidFill>
              </a:rPr>
              <a:t>Overall Findings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>
                <a:solidFill>
                  <a:schemeClr val="tx1"/>
                </a:solidFill>
              </a:rPr>
              <a:t>A severe visual domain gap </a:t>
            </a:r>
            <a:r>
              <a:rPr lang="en-US" altLang="ko-KR" sz="2800" dirty="0">
                <a:solidFill>
                  <a:schemeClr val="tx1"/>
                </a:solidFill>
              </a:rPr>
              <a:t>was observed between IU X-Ray and </a:t>
            </a:r>
            <a:r>
              <a:rPr lang="en-US" altLang="ko-KR" sz="2800" dirty="0" err="1">
                <a:solidFill>
                  <a:schemeClr val="tx1"/>
                </a:solidFill>
              </a:rPr>
              <a:t>CheXpert</a:t>
            </a:r>
            <a:r>
              <a:rPr lang="en-US" altLang="ko-KR" sz="2800" dirty="0">
                <a:solidFill>
                  <a:schemeClr val="tx1"/>
                </a:solidFill>
              </a:rPr>
              <a:t> Plus with </a:t>
            </a:r>
            <a:r>
              <a:rPr lang="en-US" altLang="ko-KR" sz="2800" b="1" dirty="0" err="1">
                <a:solidFill>
                  <a:schemeClr val="tx1"/>
                </a:solidFill>
              </a:rPr>
              <a:t>Mahalanobis</a:t>
            </a:r>
            <a:r>
              <a:rPr lang="en-US" altLang="ko-KR" sz="2800" b="1" dirty="0">
                <a:solidFill>
                  <a:schemeClr val="tx1"/>
                </a:solidFill>
              </a:rPr>
              <a:t> AUROC reaching 1.00</a:t>
            </a:r>
            <a:r>
              <a:rPr lang="en-US" altLang="ko-KR" sz="2800" dirty="0">
                <a:solidFill>
                  <a:schemeClr val="tx1"/>
                </a:solidFill>
              </a:rPr>
              <a:t>.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</a:rPr>
              <a:t>Nevertheless, </a:t>
            </a:r>
            <a:r>
              <a:rPr lang="en-US" altLang="ko-KR" sz="2800" b="1" dirty="0" err="1">
                <a:solidFill>
                  <a:schemeClr val="tx1"/>
                </a:solidFill>
              </a:rPr>
              <a:t>LoRA</a:t>
            </a:r>
            <a:r>
              <a:rPr lang="en-US" altLang="ko-KR" sz="2800" b="1" dirty="0">
                <a:solidFill>
                  <a:schemeClr val="tx1"/>
                </a:solidFill>
              </a:rPr>
              <a:t>, </a:t>
            </a:r>
            <a:r>
              <a:rPr lang="en-US" altLang="ko-KR" sz="2800" b="1" dirty="0" err="1">
                <a:solidFill>
                  <a:schemeClr val="tx1"/>
                </a:solidFill>
              </a:rPr>
              <a:t>MoME</a:t>
            </a:r>
            <a:r>
              <a:rPr lang="en-US" altLang="ko-KR" sz="2800" b="1" dirty="0">
                <a:solidFill>
                  <a:schemeClr val="tx1"/>
                </a:solidFill>
              </a:rPr>
              <a:t>-TTA, and </a:t>
            </a:r>
            <a:r>
              <a:rPr lang="en-US" altLang="ko-KR" sz="2800" b="1" dirty="0" err="1">
                <a:solidFill>
                  <a:schemeClr val="tx1"/>
                </a:solidFill>
              </a:rPr>
              <a:t>MetaVIB</a:t>
            </a:r>
            <a:r>
              <a:rPr lang="en-US" altLang="ko-KR" sz="2800" b="1" dirty="0">
                <a:solidFill>
                  <a:schemeClr val="tx1"/>
                </a:solidFill>
              </a:rPr>
              <a:t> produced only marginal improvements</a:t>
            </a:r>
            <a:r>
              <a:rPr lang="en-US" altLang="ko-KR" sz="2800" dirty="0">
                <a:solidFill>
                  <a:schemeClr val="tx1"/>
                </a:solidFill>
              </a:rPr>
              <a:t>, suggesting that lightweight feature-level adaptation alone is insufficient under severe domain shift.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>
                <a:solidFill>
                  <a:schemeClr val="tx1"/>
                </a:solidFill>
              </a:rPr>
              <a:t>Visual alignment does not guarantee clinical adaptation, </a:t>
            </a:r>
            <a:r>
              <a:rPr lang="en-US" altLang="ko-KR" sz="2800" dirty="0">
                <a:solidFill>
                  <a:schemeClr val="tx1"/>
                </a:solidFill>
              </a:rPr>
              <a:t>as target-domain reporting style and decoder-level clinical semantics remain largely unaddressed.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>
                <a:solidFill>
                  <a:schemeClr val="tx1"/>
                </a:solidFill>
              </a:rPr>
              <a:t>NLG metrics do not fully reflect clinical quality</a:t>
            </a:r>
            <a:r>
              <a:rPr lang="en-US" altLang="ko-KR" sz="2800" dirty="0">
                <a:solidFill>
                  <a:schemeClr val="tx1"/>
                </a:solidFill>
              </a:rPr>
              <a:t>, highlighting a mismatch between lexical similarity and clinically faithful reporting.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</a:rPr>
              <a:t>These results suggest that </a:t>
            </a:r>
            <a:r>
              <a:rPr lang="en-US" altLang="ko-KR" sz="2800" b="1" dirty="0">
                <a:solidFill>
                  <a:schemeClr val="tx1"/>
                </a:solidFill>
              </a:rPr>
              <a:t>classification-oriented adaptation objectives are not directly transferable to autoregressive medical report generation</a:t>
            </a:r>
            <a:r>
              <a:rPr lang="en-US" altLang="ko-KR" sz="2800" dirty="0">
                <a:solidFill>
                  <a:schemeClr val="tx1"/>
                </a:solidFill>
              </a:rPr>
              <a:t>, where decoder-level language and clinical semantics are critical.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dirty="0">
                <a:solidFill>
                  <a:schemeClr val="tx1"/>
                </a:solidFill>
              </a:rPr>
              <a:t>Future work should jointly address </a:t>
            </a:r>
            <a:r>
              <a:rPr lang="en-US" altLang="ko-KR" sz="2800" b="1" dirty="0">
                <a:solidFill>
                  <a:schemeClr val="tx1"/>
                </a:solidFill>
              </a:rPr>
              <a:t>visual robustness, target-domain language, and decoder-level clinical semantics</a:t>
            </a:r>
            <a:r>
              <a:rPr lang="en-US" altLang="ko-KR" sz="2800" dirty="0">
                <a:solidFill>
                  <a:schemeClr val="tx1"/>
                </a:solidFill>
              </a:rPr>
              <a:t>, while validating the performance–resource trade-off against full-model fine-tuning.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5B469AF-8EE9-1264-D453-C7E89C7F82A1}"/>
              </a:ext>
            </a:extLst>
          </p:cNvPr>
          <p:cNvSpPr/>
          <p:nvPr/>
        </p:nvSpPr>
        <p:spPr>
          <a:xfrm>
            <a:off x="13593011" y="29075133"/>
            <a:ext cx="16271886" cy="386036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30000"/>
              </a:lnSpc>
            </a:pPr>
            <a:endParaRPr lang="en-US" altLang="ko-KR" sz="908" b="1" dirty="0">
              <a:solidFill>
                <a:schemeClr val="tx1"/>
              </a:solidFill>
            </a:endParaRPr>
          </a:p>
          <a:p>
            <a:pPr marL="461452" indent="-461452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altLang="ko-KR" sz="3230" b="1" dirty="0">
                <a:solidFill>
                  <a:srgbClr val="222222"/>
                </a:solidFill>
              </a:rPr>
              <a:t>Exploratory Qualitative Evaluation</a:t>
            </a:r>
            <a:br>
              <a:rPr lang="en-US" altLang="ko-KR" sz="3230" b="1" dirty="0">
                <a:solidFill>
                  <a:schemeClr val="tx1"/>
                </a:solidFill>
              </a:rPr>
            </a:br>
            <a:r>
              <a:rPr lang="en-US" altLang="ko-KR" sz="2800" dirty="0">
                <a:solidFill>
                  <a:schemeClr val="tx1"/>
                </a:solidFill>
              </a:rPr>
              <a:t>We conducted LLM-assisted review of </a:t>
            </a:r>
            <a:r>
              <a:rPr lang="en-US" altLang="ko-KR" sz="2800" b="1" dirty="0">
                <a:solidFill>
                  <a:schemeClr val="tx1"/>
                </a:solidFill>
              </a:rPr>
              <a:t>50 cases </a:t>
            </a:r>
            <a:r>
              <a:rPr lang="en-US" altLang="ko-KR" sz="2800" dirty="0">
                <a:solidFill>
                  <a:schemeClr val="tx1"/>
                </a:solidFill>
              </a:rPr>
              <a:t>focusing on clinically relevant error patterns. </a:t>
            </a:r>
          </a:p>
          <a:p>
            <a:pPr marL="461452" indent="-461452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>
                <a:solidFill>
                  <a:schemeClr val="tx1"/>
                </a:solidFill>
              </a:rPr>
              <a:t>Vision-only </a:t>
            </a:r>
            <a:r>
              <a:rPr lang="en-US" altLang="ko-KR" sz="2800" b="1" dirty="0" err="1">
                <a:solidFill>
                  <a:schemeClr val="tx1"/>
                </a:solidFill>
              </a:rPr>
              <a:t>LoRA</a:t>
            </a:r>
            <a:r>
              <a:rPr lang="en-US" altLang="ko-KR" sz="2800" dirty="0">
                <a:solidFill>
                  <a:schemeClr val="tx1"/>
                </a:solidFill>
              </a:rPr>
              <a:t>: favorable lexical scores, but generated reports were often incomplete or generic. </a:t>
            </a:r>
          </a:p>
          <a:p>
            <a:pPr marL="461452" indent="-461452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>
                <a:solidFill>
                  <a:schemeClr val="tx1"/>
                </a:solidFill>
              </a:rPr>
              <a:t>Vision–decoder / SWAD-</a:t>
            </a:r>
            <a:r>
              <a:rPr lang="en-US" altLang="ko-KR" sz="2800" b="1" dirty="0" err="1">
                <a:solidFill>
                  <a:schemeClr val="tx1"/>
                </a:solidFill>
              </a:rPr>
              <a:t>LoRA</a:t>
            </a:r>
            <a:r>
              <a:rPr lang="en-US" altLang="ko-KR" sz="2800" dirty="0">
                <a:solidFill>
                  <a:schemeClr val="tx1"/>
                </a:solidFill>
              </a:rPr>
              <a:t>: lower lexical scores, but sometimes produced more clinically specific reports. </a:t>
            </a:r>
          </a:p>
          <a:p>
            <a:pPr marL="461452" indent="-461452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>
                <a:solidFill>
                  <a:schemeClr val="tx1"/>
                </a:solidFill>
              </a:rPr>
              <a:t>KD–ASL </a:t>
            </a:r>
            <a:r>
              <a:rPr lang="en-US" altLang="ko-KR" sz="2800" b="1" dirty="0" err="1">
                <a:solidFill>
                  <a:schemeClr val="tx1"/>
                </a:solidFill>
              </a:rPr>
              <a:t>LoRA</a:t>
            </a:r>
            <a:r>
              <a:rPr lang="en-US" altLang="ko-KR" sz="2800" dirty="0">
                <a:solidFill>
                  <a:schemeClr val="tx1"/>
                </a:solidFill>
              </a:rPr>
              <a:t>: reduced some unsupported findings, but improvements were inconsistent. </a:t>
            </a:r>
          </a:p>
          <a:p>
            <a:pPr marL="461452" indent="-461452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2800" b="1" dirty="0" err="1">
                <a:solidFill>
                  <a:schemeClr val="tx1"/>
                </a:solidFill>
              </a:rPr>
              <a:t>MoME</a:t>
            </a:r>
            <a:r>
              <a:rPr lang="en-US" altLang="ko-KR" sz="2800" b="1" dirty="0">
                <a:solidFill>
                  <a:schemeClr val="tx1"/>
                </a:solidFill>
              </a:rPr>
              <a:t>-TTA &amp; </a:t>
            </a:r>
            <a:r>
              <a:rPr lang="en-US" altLang="ko-KR" sz="2800" b="1" dirty="0" err="1">
                <a:solidFill>
                  <a:schemeClr val="tx1"/>
                </a:solidFill>
              </a:rPr>
              <a:t>MetaVIB</a:t>
            </a:r>
            <a:r>
              <a:rPr lang="en-US" altLang="ko-KR" sz="2800" dirty="0">
                <a:solidFill>
                  <a:schemeClr val="tx1"/>
                </a:solidFill>
              </a:rPr>
              <a:t>: showed limited qualitative differences from the source-only model.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ED77CF-192C-4F1F-2E95-2BADC9032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89083" y="4467098"/>
            <a:ext cx="6206369" cy="1160384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95E395BC-48E7-6D03-9A27-F16C65F8133B}"/>
              </a:ext>
            </a:extLst>
          </p:cNvPr>
          <p:cNvGrpSpPr/>
          <p:nvPr/>
        </p:nvGrpSpPr>
        <p:grpSpPr>
          <a:xfrm>
            <a:off x="268932" y="14476525"/>
            <a:ext cx="18482036" cy="11275240"/>
            <a:chOff x="-648410" y="13991527"/>
            <a:chExt cx="18482036" cy="11275240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CB8C051-ABE8-6098-04EC-7D76D5D1BFAF}"/>
                </a:ext>
              </a:extLst>
            </p:cNvPr>
            <p:cNvGrpSpPr/>
            <p:nvPr/>
          </p:nvGrpSpPr>
          <p:grpSpPr>
            <a:xfrm>
              <a:off x="3769216" y="16653602"/>
              <a:ext cx="9982610" cy="1556728"/>
              <a:chOff x="571579" y="25229117"/>
              <a:chExt cx="29142077" cy="1511464"/>
            </a:xfrm>
          </p:grpSpPr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BC85FC56-B4F9-50FD-907F-3B5D37811B81}"/>
                  </a:ext>
                </a:extLst>
              </p:cNvPr>
              <p:cNvSpPr/>
              <p:nvPr/>
            </p:nvSpPr>
            <p:spPr>
              <a:xfrm>
                <a:off x="571579" y="25229117"/>
                <a:ext cx="29142077" cy="1511464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273D7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DB7D850-C52C-9F21-27E5-B48E90B855E4}"/>
                  </a:ext>
                </a:extLst>
              </p:cNvPr>
              <p:cNvSpPr txBox="1"/>
              <p:nvPr/>
            </p:nvSpPr>
            <p:spPr>
              <a:xfrm>
                <a:off x="4402328" y="25305585"/>
                <a:ext cx="21477960" cy="414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30000"/>
                  </a:lnSpc>
                  <a:defRPr/>
                </a:pPr>
                <a:r>
                  <a:rPr lang="en-US" altLang="ko-KR" sz="3200" b="1" dirty="0">
                    <a:solidFill>
                      <a:srgbClr val="273D79"/>
                    </a:solidFill>
                  </a:rPr>
                  <a:t>Frozen </a:t>
                </a:r>
                <a:r>
                  <a:rPr lang="en-US" altLang="ko-KR" sz="3200" b="1" dirty="0" err="1">
                    <a:solidFill>
                      <a:srgbClr val="273D79"/>
                    </a:solidFill>
                  </a:rPr>
                  <a:t>BiomedGPT</a:t>
                </a:r>
                <a:r>
                  <a:rPr lang="en-US" altLang="ko-KR" sz="3200" b="1" dirty="0">
                    <a:solidFill>
                      <a:srgbClr val="273D79"/>
                    </a:solidFill>
                  </a:rPr>
                  <a:t> Backbone</a:t>
                </a:r>
              </a:p>
              <a:p>
                <a:pPr lvl="0" algn="ctr">
                  <a:lnSpc>
                    <a:spcPct val="130000"/>
                  </a:lnSpc>
                  <a:defRPr/>
                </a:pPr>
                <a:r>
                  <a:rPr kumimoji="0" lang="en-US" altLang="ko-KR" sz="283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Only the lightweight modules below are trained</a:t>
                </a: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2AD1D284-F6A0-B963-04D8-742317618AC6}"/>
                </a:ext>
              </a:extLst>
            </p:cNvPr>
            <p:cNvGrpSpPr/>
            <p:nvPr/>
          </p:nvGrpSpPr>
          <p:grpSpPr>
            <a:xfrm>
              <a:off x="882004" y="13991527"/>
              <a:ext cx="15757035" cy="2197193"/>
              <a:chOff x="571579" y="25322923"/>
              <a:chExt cx="29142077" cy="1511464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28FD584E-E4DD-89D6-CEC0-72CD8D3A3BA9}"/>
                  </a:ext>
                </a:extLst>
              </p:cNvPr>
              <p:cNvSpPr/>
              <p:nvPr/>
            </p:nvSpPr>
            <p:spPr>
              <a:xfrm>
                <a:off x="571579" y="25322923"/>
                <a:ext cx="29142077" cy="1511464"/>
              </a:xfrm>
              <a:prstGeom prst="roundRect">
                <a:avLst/>
              </a:prstGeom>
              <a:ln w="38100">
                <a:solidFill>
                  <a:srgbClr val="273D79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EF8582D-4C60-6C6B-6BCA-E58D3B65286D}"/>
                  </a:ext>
                </a:extLst>
              </p:cNvPr>
              <p:cNvSpPr txBox="1"/>
              <p:nvPr/>
            </p:nvSpPr>
            <p:spPr>
              <a:xfrm>
                <a:off x="1635557" y="25399392"/>
                <a:ext cx="27199566" cy="1049633"/>
              </a:xfrm>
              <a:prstGeom prst="rect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lvl="0" algn="ctr">
                  <a:lnSpc>
                    <a:spcPct val="130000"/>
                  </a:lnSpc>
                  <a:defRPr/>
                </a:pPr>
                <a:r>
                  <a:rPr kumimoji="0" lang="en-US" altLang="ko-KR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79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Dataset</a:t>
                </a:r>
                <a:r>
                  <a:rPr kumimoji="0" lang="ko-KR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79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 </a:t>
                </a:r>
                <a:r>
                  <a:rPr kumimoji="0" lang="en-US" altLang="ko-KR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79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&amp;</a:t>
                </a:r>
                <a:r>
                  <a:rPr kumimoji="0" lang="ko-KR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79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 </a:t>
                </a:r>
                <a:r>
                  <a:rPr kumimoji="0" lang="en-US" altLang="ko-KR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79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Experimental</a:t>
                </a:r>
                <a:r>
                  <a:rPr kumimoji="0" lang="ko-KR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79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 </a:t>
                </a:r>
                <a:r>
                  <a:rPr kumimoji="0" lang="en-US" altLang="ko-KR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79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Setup</a:t>
                </a:r>
              </a:p>
              <a:p>
                <a:pPr lvl="0" algn="ctr">
                  <a:lnSpc>
                    <a:spcPct val="130000"/>
                  </a:lnSpc>
                  <a:defRPr/>
                </a:pPr>
                <a:r>
                  <a:rPr kumimoji="0" lang="en-US" altLang="ko-KR" sz="283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Source → Target</a:t>
                </a:r>
                <a:r>
                  <a:rPr kumimoji="0" lang="en-US" altLang="ko-KR" sz="283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: IU X-Ray → </a:t>
                </a:r>
                <a:r>
                  <a:rPr kumimoji="0" lang="en-US" altLang="ko-KR" sz="283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CheXpert</a:t>
                </a:r>
                <a:r>
                  <a:rPr kumimoji="0" lang="en-US" altLang="ko-KR" sz="283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 Plus			</a:t>
                </a:r>
                <a:r>
                  <a:rPr kumimoji="0" lang="en-US" altLang="ko-KR" sz="283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Base Model</a:t>
                </a:r>
                <a:r>
                  <a:rPr kumimoji="0" lang="en-US" altLang="ko-KR" sz="283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: </a:t>
                </a:r>
                <a:r>
                  <a:rPr kumimoji="0" lang="en-US" altLang="ko-KR" sz="283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BiomedGPT</a:t>
                </a:r>
                <a:r>
                  <a:rPr kumimoji="0" lang="en-US" altLang="ko-KR" sz="283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 pretrained on IU X-Ray</a:t>
                </a:r>
              </a:p>
              <a:p>
                <a:pPr lvl="0" algn="ctr">
                  <a:lnSpc>
                    <a:spcPct val="130000"/>
                  </a:lnSpc>
                  <a:defRPr/>
                </a:pPr>
                <a:r>
                  <a:rPr kumimoji="0" lang="en-US" altLang="ko-KR" sz="283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Experiments were conducted under a limited-resource Google </a:t>
                </a:r>
                <a:r>
                  <a:rPr kumimoji="0" lang="en-US" altLang="ko-KR" sz="283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Colab</a:t>
                </a:r>
                <a:r>
                  <a:rPr kumimoji="0" lang="en-US" altLang="ko-KR" sz="283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lt"/>
                    <a:cs typeface="Calibri" panose="020F0502020204030204"/>
                  </a:rPr>
                  <a:t> setting</a:t>
                </a:r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960ABBDA-0DB0-2FB6-2CD9-6E86096FD1CA}"/>
                </a:ext>
              </a:extLst>
            </p:cNvPr>
            <p:cNvGrpSpPr/>
            <p:nvPr/>
          </p:nvGrpSpPr>
          <p:grpSpPr>
            <a:xfrm>
              <a:off x="-648410" y="19019988"/>
              <a:ext cx="18482036" cy="6246779"/>
              <a:chOff x="322244" y="18959802"/>
              <a:chExt cx="18482036" cy="6246779"/>
            </a:xfrm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647A5986-3211-0F4E-49E5-9709C6BFFDB1}"/>
                  </a:ext>
                </a:extLst>
              </p:cNvPr>
              <p:cNvGrpSpPr/>
              <p:nvPr/>
            </p:nvGrpSpPr>
            <p:grpSpPr>
              <a:xfrm>
                <a:off x="322244" y="18959802"/>
                <a:ext cx="6229969" cy="6243539"/>
                <a:chOff x="8007857" y="14925054"/>
                <a:chExt cx="6229969" cy="6243539"/>
              </a:xfrm>
            </p:grpSpPr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E4A55371-3FBE-1D4E-2E23-749EA78FF953}"/>
                    </a:ext>
                  </a:extLst>
                </p:cNvPr>
                <p:cNvGrpSpPr/>
                <p:nvPr/>
              </p:nvGrpSpPr>
              <p:grpSpPr>
                <a:xfrm>
                  <a:off x="8007857" y="14974374"/>
                  <a:ext cx="6229969" cy="6194219"/>
                  <a:chOff x="-2246916" y="25661632"/>
                  <a:chExt cx="32051390" cy="1511464"/>
                </a:xfrm>
              </p:grpSpPr>
              <p:sp>
                <p:nvSpPr>
                  <p:cNvPr id="43" name="사각형: 둥근 모서리 42">
                    <a:extLst>
                      <a:ext uri="{FF2B5EF4-FFF2-40B4-BE49-F238E27FC236}">
                        <a16:creationId xmlns:a16="http://schemas.microsoft.com/office/drawing/2014/main" id="{593B6EFB-73D5-1766-1BF1-00E97063FFC1}"/>
                      </a:ext>
                    </a:extLst>
                  </p:cNvPr>
                  <p:cNvSpPr/>
                  <p:nvPr/>
                </p:nvSpPr>
                <p:spPr>
                  <a:xfrm>
                    <a:off x="-393405" y="25661632"/>
                    <a:ext cx="29142077" cy="1511464"/>
                  </a:xfrm>
                  <a:prstGeom prst="roundRect">
                    <a:avLst/>
                  </a:prstGeom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C748B88A-0207-E6D8-D41C-4932CAE3E239}"/>
                      </a:ext>
                    </a:extLst>
                  </p:cNvPr>
                  <p:cNvSpPr txBox="1"/>
                  <p:nvPr/>
                </p:nvSpPr>
                <p:spPr>
                  <a:xfrm>
                    <a:off x="-2246916" y="25931288"/>
                    <a:ext cx="32051390" cy="1191480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 b="1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Vision-only</a:t>
                    </a:r>
                    <a:r>
                      <a:rPr lang="en-US" altLang="ko-KR" sz="2830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: Adapt visual encoder features</a:t>
                    </a:r>
                  </a:p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 b="1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Vision-decoder</a:t>
                    </a:r>
                    <a:r>
                      <a:rPr lang="en-US" altLang="ko-KR" sz="2830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: Adapt visual features + updates decoder cross-attention</a:t>
                    </a:r>
                  </a:p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 b="1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KD-ASL</a:t>
                    </a:r>
                    <a:r>
                      <a:rPr lang="en-US" altLang="ko-KR" sz="2830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: Combine CE training with token-level knowledge distillation and pathology-level prediction</a:t>
                    </a:r>
                  </a:p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 b="1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SWAD-inspired</a:t>
                    </a:r>
                    <a:r>
                      <a:rPr lang="en-US" altLang="ko-KR" sz="2830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: Average low-validation-loss </a:t>
                    </a:r>
                    <a:r>
                      <a:rPr lang="en-US" altLang="ko-KR" sz="2830" dirty="0" err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LoRA</a:t>
                    </a:r>
                    <a:r>
                      <a:rPr lang="en-US" altLang="ko-KR" sz="2830" dirty="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 checkpoints for improved robustness</a:t>
                    </a:r>
                  </a:p>
                </p:txBody>
              </p:sp>
            </p:grpSp>
            <p:grpSp>
              <p:nvGrpSpPr>
                <p:cNvPr id="33" name="그룹 32">
                  <a:extLst>
                    <a:ext uri="{FF2B5EF4-FFF2-40B4-BE49-F238E27FC236}">
                      <a16:creationId xmlns:a16="http://schemas.microsoft.com/office/drawing/2014/main" id="{B4FF165C-DDAA-0C55-A88B-514E36F25D11}"/>
                    </a:ext>
                  </a:extLst>
                </p:cNvPr>
                <p:cNvGrpSpPr/>
                <p:nvPr/>
              </p:nvGrpSpPr>
              <p:grpSpPr>
                <a:xfrm>
                  <a:off x="8368132" y="14925054"/>
                  <a:ext cx="5664473" cy="1097321"/>
                  <a:chOff x="-393405" y="25661632"/>
                  <a:chExt cx="29142077" cy="1511464"/>
                </a:xfrm>
              </p:grpSpPr>
              <p:sp>
                <p:nvSpPr>
                  <p:cNvPr id="34" name="사각형: 둥근 모서리 33">
                    <a:extLst>
                      <a:ext uri="{FF2B5EF4-FFF2-40B4-BE49-F238E27FC236}">
                        <a16:creationId xmlns:a16="http://schemas.microsoft.com/office/drawing/2014/main" id="{2732273B-AB5B-0416-B4D6-A165F1B4AFE9}"/>
                      </a:ext>
                    </a:extLst>
                  </p:cNvPr>
                  <p:cNvSpPr/>
                  <p:nvPr/>
                </p:nvSpPr>
                <p:spPr>
                  <a:xfrm>
                    <a:off x="-393405" y="25661632"/>
                    <a:ext cx="29142077" cy="1511464"/>
                  </a:xfrm>
                  <a:prstGeom prst="roundRect">
                    <a:avLst/>
                  </a:prstGeom>
                  <a:solidFill>
                    <a:srgbClr val="273D79"/>
                  </a:solidFill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FB884567-6C48-7157-9670-AD4B6F391957}"/>
                      </a:ext>
                    </a:extLst>
                  </p:cNvPr>
                  <p:cNvSpPr txBox="1"/>
                  <p:nvPr/>
                </p:nvSpPr>
                <p:spPr>
                  <a:xfrm>
                    <a:off x="670578" y="25864051"/>
                    <a:ext cx="27199563" cy="937780"/>
                  </a:xfrm>
                  <a:prstGeom prst="rect">
                    <a:avLst/>
                  </a:prstGeom>
                  <a:noFill/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lvl="0" algn="ctr">
                      <a:lnSpc>
                        <a:spcPct val="130000"/>
                      </a:lnSpc>
                      <a:defRPr/>
                    </a:pPr>
                    <a:r>
                      <a:rPr kumimoji="0" lang="en-US" altLang="ko-KR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lt"/>
                        <a:cs typeface="Calibri" panose="020F0502020204030204"/>
                      </a:rPr>
                      <a:t>LoRa-based Adaptation</a:t>
                    </a:r>
                    <a:endParaRPr kumimoji="0" lang="en-US" altLang="ko-KR" sz="283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Calibri" panose="020F0502020204030204"/>
                      <a:ea typeface="+mn-lt"/>
                      <a:cs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BD034D74-A03D-18CF-B48D-D068DCC07A5A}"/>
                  </a:ext>
                </a:extLst>
              </p:cNvPr>
              <p:cNvGrpSpPr/>
              <p:nvPr/>
            </p:nvGrpSpPr>
            <p:grpSpPr>
              <a:xfrm>
                <a:off x="6534321" y="18963042"/>
                <a:ext cx="6024748" cy="6243539"/>
                <a:chOff x="8007857" y="14925054"/>
                <a:chExt cx="6024748" cy="6243539"/>
              </a:xfrm>
            </p:grpSpPr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AF66FAA0-B0B1-F4BE-AADA-04FB27E7FE50}"/>
                    </a:ext>
                  </a:extLst>
                </p:cNvPr>
                <p:cNvGrpSpPr/>
                <p:nvPr/>
              </p:nvGrpSpPr>
              <p:grpSpPr>
                <a:xfrm>
                  <a:off x="8007857" y="14974374"/>
                  <a:ext cx="6024748" cy="6194219"/>
                  <a:chOff x="-2246916" y="25661632"/>
                  <a:chExt cx="30995588" cy="1511464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305FDA0-7451-62DB-09D5-7BDD2ED14EE0}"/>
                      </a:ext>
                    </a:extLst>
                  </p:cNvPr>
                  <p:cNvSpPr/>
                  <p:nvPr/>
                </p:nvSpPr>
                <p:spPr>
                  <a:xfrm>
                    <a:off x="-393405" y="25661632"/>
                    <a:ext cx="29142077" cy="1511464"/>
                  </a:xfrm>
                  <a:prstGeom prst="roundRect">
                    <a:avLst/>
                  </a:prstGeom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0B916EA4-FE6E-CF2A-2C64-4B68B6486FD5}"/>
                      </a:ext>
                    </a:extLst>
                  </p:cNvPr>
                  <p:cNvSpPr txBox="1"/>
                  <p:nvPr/>
                </p:nvSpPr>
                <p:spPr>
                  <a:xfrm>
                    <a:off x="-2246916" y="25931288"/>
                    <a:ext cx="30613022" cy="87267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 b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Unlabeled</a:t>
                    </a: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 target-domain adaptation method.</a:t>
                    </a:r>
                  </a:p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Freeze experts, and language modules, optimizing only an </a:t>
                    </a:r>
                    <a:r>
                      <a:rPr lang="en-US" altLang="ko-KR" sz="2830" b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entropy-based router </a:t>
                    </a: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during inference.</a:t>
                    </a:r>
                  </a:p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Only </a:t>
                    </a:r>
                    <a:r>
                      <a:rPr lang="en-US" altLang="ko-KR" sz="2830" b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0.009% of model parameters </a:t>
                    </a: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are trainable.</a:t>
                    </a:r>
                    <a:endParaRPr lang="en-US" altLang="ko-KR" sz="2830" dirty="0">
                      <a:solidFill>
                        <a:prstClr val="black"/>
                      </a:solidFill>
                      <a:latin typeface="NotoSansKR"/>
                      <a:ea typeface="맑은 고딕" panose="020B0503020000020004" pitchFamily="34" charset="-127"/>
                    </a:endParaRP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F0CCBC68-C97A-B979-89B7-2F90DC7188F6}"/>
                    </a:ext>
                  </a:extLst>
                </p:cNvPr>
                <p:cNvGrpSpPr/>
                <p:nvPr/>
              </p:nvGrpSpPr>
              <p:grpSpPr>
                <a:xfrm>
                  <a:off x="8368132" y="14925054"/>
                  <a:ext cx="5664473" cy="1097321"/>
                  <a:chOff x="-393405" y="25661632"/>
                  <a:chExt cx="29142077" cy="1511464"/>
                </a:xfrm>
              </p:grpSpPr>
              <p:sp>
                <p:nvSpPr>
                  <p:cNvPr id="54" name="사각형: 둥근 모서리 53">
                    <a:extLst>
                      <a:ext uri="{FF2B5EF4-FFF2-40B4-BE49-F238E27FC236}">
                        <a16:creationId xmlns:a16="http://schemas.microsoft.com/office/drawing/2014/main" id="{79F9FD55-9667-336A-B2E3-7B45D301E3B9}"/>
                      </a:ext>
                    </a:extLst>
                  </p:cNvPr>
                  <p:cNvSpPr/>
                  <p:nvPr/>
                </p:nvSpPr>
                <p:spPr>
                  <a:xfrm>
                    <a:off x="-393405" y="25661632"/>
                    <a:ext cx="29142077" cy="1511464"/>
                  </a:xfrm>
                  <a:prstGeom prst="roundRect">
                    <a:avLst/>
                  </a:prstGeom>
                  <a:solidFill>
                    <a:srgbClr val="273D79"/>
                  </a:solidFill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AE48987E-86D5-A2D7-1A2B-D328F18FCF1A}"/>
                      </a:ext>
                    </a:extLst>
                  </p:cNvPr>
                  <p:cNvSpPr txBox="1"/>
                  <p:nvPr/>
                </p:nvSpPr>
                <p:spPr>
                  <a:xfrm>
                    <a:off x="670578" y="25864051"/>
                    <a:ext cx="27199563" cy="937780"/>
                  </a:xfrm>
                  <a:prstGeom prst="rect">
                    <a:avLst/>
                  </a:prstGeom>
                  <a:noFill/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lvl="0" algn="ctr">
                      <a:lnSpc>
                        <a:spcPct val="130000"/>
                      </a:lnSpc>
                      <a:defRPr/>
                    </a:pPr>
                    <a:r>
                      <a:rPr kumimoji="0" lang="en-US" altLang="ko-KR" sz="3200" b="1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lt"/>
                        <a:cs typeface="Calibri" panose="020F0502020204030204"/>
                      </a:rPr>
                      <a:t>MoME</a:t>
                    </a:r>
                    <a:r>
                      <a:rPr kumimoji="0" lang="en-US" altLang="ko-KR" sz="3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lt"/>
                        <a:cs typeface="Calibri" panose="020F0502020204030204"/>
                      </a:rPr>
                      <a:t>-TTA</a:t>
                    </a:r>
                    <a:endParaRPr kumimoji="0" lang="en-US" altLang="ko-KR" sz="283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Calibri" panose="020F0502020204030204"/>
                      <a:ea typeface="+mn-lt"/>
                      <a:cs typeface="Calibri" panose="020F0502020204030204"/>
                    </a:endParaRPr>
                  </a:p>
                </p:txBody>
              </p:sp>
            </p:grpSp>
          </p:grp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0ECB34DB-D3AC-ED1B-EFBB-202075D6A593}"/>
                  </a:ext>
                </a:extLst>
              </p:cNvPr>
              <p:cNvGrpSpPr/>
              <p:nvPr/>
            </p:nvGrpSpPr>
            <p:grpSpPr>
              <a:xfrm>
                <a:off x="12779532" y="18959802"/>
                <a:ext cx="6024748" cy="6243539"/>
                <a:chOff x="8007857" y="14925054"/>
                <a:chExt cx="6024748" cy="6243539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7F81C76C-4F87-60FB-FF2D-EB584FEC2293}"/>
                    </a:ext>
                  </a:extLst>
                </p:cNvPr>
                <p:cNvGrpSpPr/>
                <p:nvPr/>
              </p:nvGrpSpPr>
              <p:grpSpPr>
                <a:xfrm>
                  <a:off x="8007857" y="14974374"/>
                  <a:ext cx="6024748" cy="6194219"/>
                  <a:chOff x="-2246916" y="25661632"/>
                  <a:chExt cx="30995588" cy="1511464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500A19D3-A802-6155-363E-7AF938DD74F0}"/>
                      </a:ext>
                    </a:extLst>
                  </p:cNvPr>
                  <p:cNvSpPr/>
                  <p:nvPr/>
                </p:nvSpPr>
                <p:spPr>
                  <a:xfrm>
                    <a:off x="-393405" y="25661632"/>
                    <a:ext cx="29142077" cy="1511464"/>
                  </a:xfrm>
                  <a:prstGeom prst="roundRect">
                    <a:avLst/>
                  </a:prstGeom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BF26CC10-3E8B-58A2-F1C4-6422C926D6FF}"/>
                      </a:ext>
                    </a:extLst>
                  </p:cNvPr>
                  <p:cNvSpPr txBox="1"/>
                  <p:nvPr/>
                </p:nvSpPr>
                <p:spPr>
                  <a:xfrm>
                    <a:off x="-2246916" y="25931288"/>
                    <a:ext cx="30613022" cy="87267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Construct pseudo-domains within IU X-Ray using </a:t>
                    </a:r>
                    <a:r>
                      <a:rPr lang="en-US" altLang="ko-KR" sz="2830" b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frontal/lateral views </a:t>
                    </a: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and </a:t>
                    </a:r>
                    <a:r>
                      <a:rPr lang="en-US" altLang="ko-KR" sz="2830" b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feature clustering</a:t>
                    </a: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.</a:t>
                    </a:r>
                  </a:p>
                  <a:p>
                    <a:pPr marL="918652" lvl="1" indent="-457200"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Evaluates whether </a:t>
                    </a:r>
                    <a:r>
                      <a:rPr lang="en-US" altLang="ko-KR" sz="2830" b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classification-oriented</a:t>
                    </a: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 latent regularization transfers to </a:t>
                    </a:r>
                    <a:r>
                      <a:rPr lang="en-US" altLang="ko-KR" sz="2830" b="1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autoregressive</a:t>
                    </a:r>
                    <a:r>
                      <a:rPr lang="en-US" altLang="ko-KR" sz="2830">
                        <a:solidFill>
                          <a:prstClr val="black"/>
                        </a:solidFill>
                        <a:latin typeface="NotoSansKR"/>
                        <a:ea typeface="맑은 고딕" panose="020B0503020000020004" pitchFamily="34" charset="-127"/>
                      </a:rPr>
                      <a:t> report generation.</a:t>
                    </a:r>
                    <a:endParaRPr lang="en-US" altLang="ko-KR" sz="2830" dirty="0">
                      <a:solidFill>
                        <a:prstClr val="black"/>
                      </a:solidFill>
                      <a:latin typeface="NotoSansKR"/>
                      <a:ea typeface="맑은 고딕" panose="020B0503020000020004" pitchFamily="34" charset="-127"/>
                    </a:endParaRPr>
                  </a:p>
                </p:txBody>
              </p:sp>
            </p:grpSp>
            <p:grpSp>
              <p:nvGrpSpPr>
                <p:cNvPr id="66" name="그룹 65">
                  <a:extLst>
                    <a:ext uri="{FF2B5EF4-FFF2-40B4-BE49-F238E27FC236}">
                      <a16:creationId xmlns:a16="http://schemas.microsoft.com/office/drawing/2014/main" id="{181660D8-4456-A47E-79E3-DD8A6D3C4CA2}"/>
                    </a:ext>
                  </a:extLst>
                </p:cNvPr>
                <p:cNvGrpSpPr/>
                <p:nvPr/>
              </p:nvGrpSpPr>
              <p:grpSpPr>
                <a:xfrm>
                  <a:off x="8368132" y="14925054"/>
                  <a:ext cx="5664473" cy="1097321"/>
                  <a:chOff x="-393405" y="25661632"/>
                  <a:chExt cx="29142077" cy="1511464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400152A9-6A4B-B842-12D9-59E7D04DABC1}"/>
                      </a:ext>
                    </a:extLst>
                  </p:cNvPr>
                  <p:cNvSpPr/>
                  <p:nvPr/>
                </p:nvSpPr>
                <p:spPr>
                  <a:xfrm>
                    <a:off x="-393405" y="25661632"/>
                    <a:ext cx="29142077" cy="1511464"/>
                  </a:xfrm>
                  <a:prstGeom prst="roundRect">
                    <a:avLst/>
                  </a:prstGeom>
                  <a:solidFill>
                    <a:srgbClr val="273D79"/>
                  </a:solidFill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81AF9B37-C3BB-8F56-613C-71DD83B2BB16}"/>
                      </a:ext>
                    </a:extLst>
                  </p:cNvPr>
                  <p:cNvSpPr txBox="1"/>
                  <p:nvPr/>
                </p:nvSpPr>
                <p:spPr>
                  <a:xfrm>
                    <a:off x="670578" y="25864051"/>
                    <a:ext cx="27199563" cy="937780"/>
                  </a:xfrm>
                  <a:prstGeom prst="rect">
                    <a:avLst/>
                  </a:prstGeom>
                  <a:noFill/>
                  <a:ln w="38100">
                    <a:solidFill>
                      <a:srgbClr val="273D79"/>
                    </a:solidFill>
                  </a:ln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wrap="square">
                    <a:spAutoFit/>
                  </a:bodyPr>
                  <a:lstStyle/>
                  <a:p>
                    <a:pPr lvl="0" algn="ctr">
                      <a:lnSpc>
                        <a:spcPct val="130000"/>
                      </a:lnSpc>
                      <a:defRPr/>
                    </a:pPr>
                    <a:r>
                      <a:rPr kumimoji="0" lang="en-US" altLang="ko-KR" sz="3200" b="1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lt"/>
                        <a:cs typeface="Calibri" panose="020F0502020204030204"/>
                      </a:rPr>
                      <a:t>MetaVIB</a:t>
                    </a:r>
                    <a:endParaRPr kumimoji="0" lang="en-US" altLang="ko-KR" sz="283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Calibri" panose="020F0502020204030204"/>
                      <a:ea typeface="+mn-lt"/>
                      <a:cs typeface="Calibri" panose="020F0502020204030204"/>
                    </a:endParaRPr>
                  </a:p>
                </p:txBody>
              </p:sp>
            </p:grpSp>
          </p:grpSp>
        </p:grp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1D10209-5052-72CE-5589-83AE61E1761A}"/>
              </a:ext>
            </a:extLst>
          </p:cNvPr>
          <p:cNvGrpSpPr/>
          <p:nvPr/>
        </p:nvGrpSpPr>
        <p:grpSpPr>
          <a:xfrm>
            <a:off x="18957778" y="14569618"/>
            <a:ext cx="11059516" cy="2874259"/>
            <a:chOff x="12192897" y="20657631"/>
            <a:chExt cx="8622832" cy="28742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3208000-07D3-DFEC-79E7-F509F63C34F3}"/>
                </a:ext>
              </a:extLst>
            </p:cNvPr>
            <p:cNvSpPr txBox="1">
              <a:spLocks/>
            </p:cNvSpPr>
            <p:nvPr/>
          </p:nvSpPr>
          <p:spPr>
            <a:xfrm>
              <a:off x="12534045" y="20657631"/>
              <a:ext cx="5625757" cy="589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61452" indent="-461452">
                <a:buFont typeface="Wingdings" panose="05000000000000000000" pitchFamily="2" charset="2"/>
                <a:buChar char="l"/>
              </a:pPr>
              <a:r>
                <a:rPr lang="en-US" altLang="ko-KR" sz="3230" b="1" dirty="0"/>
                <a:t>Visual Domain Shift Analysis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44F6CB5-DB06-B727-2E54-1CFE01A5EF03}"/>
                </a:ext>
              </a:extLst>
            </p:cNvPr>
            <p:cNvSpPr txBox="1"/>
            <p:nvPr/>
          </p:nvSpPr>
          <p:spPr>
            <a:xfrm>
              <a:off x="12192897" y="21262038"/>
              <a:ext cx="8622832" cy="22698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61452" marR="0" lvl="1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en-US" altLang="ko-KR" sz="283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SansKR"/>
                  <a:ea typeface="맑은 고딕" panose="020B0503020000020004" pitchFamily="34" charset="-127"/>
                  <a:cs typeface="+mn-cs"/>
                </a:rPr>
                <a:t>Mahalanobis</a:t>
              </a:r>
              <a:r>
                <a:rPr kumimoji="0" lang="en-US" altLang="ko-KR" sz="283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SansKR"/>
                  <a:ea typeface="맑은 고딕" panose="020B0503020000020004" pitchFamily="34" charset="-127"/>
                  <a:cs typeface="+mn-cs"/>
                </a:rPr>
                <a:t> Distance</a:t>
              </a:r>
            </a:p>
            <a:p>
              <a:pPr marL="918652" marR="0" lvl="1" indent="-4572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altLang="ko-KR" sz="283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SansKR"/>
                  <a:ea typeface="맑은 고딕" panose="020B0503020000020004" pitchFamily="34" charset="-127"/>
                  <a:cs typeface="+mn-cs"/>
                </a:rPr>
                <a:t>Extract visual features from the pretrained </a:t>
              </a:r>
              <a:r>
                <a:rPr kumimoji="0" lang="en-US" altLang="ko-KR" sz="283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SansKR"/>
                  <a:ea typeface="맑은 고딕" panose="020B0503020000020004" pitchFamily="34" charset="-127"/>
                  <a:cs typeface="+mn-cs"/>
                </a:rPr>
                <a:t>BiomedGPT</a:t>
              </a:r>
              <a:r>
                <a:rPr kumimoji="0" lang="en-US" altLang="ko-KR" sz="283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otoSansKR"/>
                  <a:ea typeface="맑은 고딕" panose="020B0503020000020004" pitchFamily="34" charset="-127"/>
                  <a:cs typeface="+mn-cs"/>
                </a:rPr>
                <a:t> encoder.</a:t>
              </a:r>
            </a:p>
            <a:p>
              <a:pPr marL="918652" marR="0" lvl="1" indent="-4572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altLang="ko-KR" sz="2830" dirty="0">
                  <a:solidFill>
                    <a:prstClr val="black"/>
                  </a:solidFill>
                  <a:latin typeface="NotoSansKR"/>
                  <a:ea typeface="맑은 고딕" panose="020B0503020000020004" pitchFamily="34" charset="-127"/>
                </a:rPr>
                <a:t>Estimate the IU X-Ray feature distribution and measure target-domain distance.</a:t>
              </a:r>
            </a:p>
            <a:p>
              <a:pPr marL="918652" marR="0" lvl="1" indent="-4572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altLang="ko-KR" sz="2830" dirty="0">
                  <a:solidFill>
                    <a:prstClr val="black"/>
                  </a:solidFill>
                  <a:latin typeface="NotoSansKR"/>
                  <a:ea typeface="맑은 고딕" panose="020B0503020000020004" pitchFamily="34" charset="-127"/>
                </a:rPr>
                <a:t>Use AUROC to quantify source-target separability.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8114614C-0E1C-29AF-0BE7-882F8BA4AFF0}"/>
              </a:ext>
            </a:extLst>
          </p:cNvPr>
          <p:cNvGrpSpPr/>
          <p:nvPr/>
        </p:nvGrpSpPr>
        <p:grpSpPr>
          <a:xfrm>
            <a:off x="18957779" y="17561829"/>
            <a:ext cx="15464191" cy="3146361"/>
            <a:chOff x="18957779" y="17135109"/>
            <a:chExt cx="15464191" cy="3146361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7EE6096-7C66-2181-2359-A1F973E9AF84}"/>
                </a:ext>
              </a:extLst>
            </p:cNvPr>
            <p:cNvSpPr txBox="1"/>
            <p:nvPr/>
          </p:nvSpPr>
          <p:spPr>
            <a:xfrm>
              <a:off x="18957779" y="17135109"/>
              <a:ext cx="11551445" cy="465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22" b="1" dirty="0"/>
                <a:t>Table 1. </a:t>
              </a:r>
              <a:r>
                <a:rPr lang="en-US" altLang="ko-KR" sz="2422" dirty="0" err="1"/>
                <a:t>Mahalanobis</a:t>
              </a:r>
              <a:r>
                <a:rPr lang="en-US" altLang="ko-KR" sz="2422" dirty="0"/>
                <a:t> distance evaluation between IU X-Ray and </a:t>
              </a:r>
              <a:r>
                <a:rPr lang="en-US" altLang="ko-KR" sz="2422" dirty="0" err="1"/>
                <a:t>CheXpert</a:t>
              </a:r>
              <a:r>
                <a:rPr lang="en-US" altLang="ko-KR" sz="2422" dirty="0"/>
                <a:t> Plus.  </a:t>
              </a:r>
              <a:endParaRPr lang="ko-KR" altLang="en-US" sz="2422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BC7828E-1B4D-FAF6-40F8-BD2B58BC2DFF}"/>
                </a:ext>
              </a:extLst>
            </p:cNvPr>
            <p:cNvSpPr txBox="1"/>
            <p:nvPr/>
          </p:nvSpPr>
          <p:spPr>
            <a:xfrm>
              <a:off x="19242930" y="19758250"/>
              <a:ext cx="1517904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61452" lvl="1">
                <a:defRPr/>
              </a:pPr>
              <a:r>
                <a:rPr lang="ko-KR" altLang="en-US" sz="2830" b="1" dirty="0"/>
                <a:t>➔ </a:t>
              </a:r>
              <a:r>
                <a:rPr lang="en-US" altLang="ko-KR" sz="2830" b="1" dirty="0"/>
                <a:t>Strong visual domain shift exists before adaptation.</a:t>
              </a:r>
              <a:endParaRPr lang="en-US" altLang="ko-KR" sz="2830" b="1" dirty="0">
                <a:solidFill>
                  <a:prstClr val="black"/>
                </a:solidFill>
                <a:latin typeface="NotoSansKR"/>
                <a:ea typeface="맑은 고딕" panose="020B0503020000020004" pitchFamily="34" charset="-127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DA6E779-2A28-E11E-08DA-8E09B23D8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754155" y="17697419"/>
              <a:ext cx="5602624" cy="2019994"/>
            </a:xfrm>
            <a:prstGeom prst="rect">
              <a:avLst/>
            </a:prstGeom>
          </p:spPr>
        </p:pic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4043F401-6D9F-2041-7C59-804BA4003916}"/>
              </a:ext>
            </a:extLst>
          </p:cNvPr>
          <p:cNvGrpSpPr/>
          <p:nvPr/>
        </p:nvGrpSpPr>
        <p:grpSpPr>
          <a:xfrm>
            <a:off x="265972" y="31261939"/>
            <a:ext cx="12566786" cy="5705479"/>
            <a:chOff x="265972" y="31261939"/>
            <a:chExt cx="12566786" cy="5705479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DAF9540-EFF3-1961-3AA7-5CA9FFD9173E}"/>
                </a:ext>
              </a:extLst>
            </p:cNvPr>
            <p:cNvSpPr txBox="1"/>
            <p:nvPr/>
          </p:nvSpPr>
          <p:spPr>
            <a:xfrm>
              <a:off x="764524" y="31261939"/>
              <a:ext cx="11748592" cy="837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22" b="1" dirty="0"/>
                <a:t>Table 2. </a:t>
              </a:r>
              <a:r>
                <a:rPr lang="en-US" altLang="ko-KR" sz="2422" dirty="0"/>
                <a:t>Quantitative comparison of </a:t>
              </a:r>
              <a:r>
                <a:rPr lang="en-US" altLang="ko-KR" sz="2422" dirty="0" err="1"/>
                <a:t>BiomedGPT</a:t>
              </a:r>
              <a:r>
                <a:rPr lang="en-US" altLang="ko-KR" sz="2422" dirty="0"/>
                <a:t> models with different adaptation strategies on the </a:t>
              </a:r>
              <a:r>
                <a:rPr lang="en-US" altLang="ko-KR" sz="2422" dirty="0" err="1"/>
                <a:t>CheXpert</a:t>
              </a:r>
              <a:r>
                <a:rPr lang="en-US" altLang="ko-KR" sz="2422" dirty="0"/>
                <a:t> Plus dataset. Bold values denote the best point </a:t>
              </a:r>
              <a:r>
                <a:rPr lang="en-US" altLang="ko-KR" sz="2422" dirty="0" err="1"/>
                <a:t>estimatefor</a:t>
              </a:r>
              <a:r>
                <a:rPr lang="en-US" altLang="ko-KR" sz="2422" dirty="0"/>
                <a:t> each metric.</a:t>
              </a:r>
              <a:endParaRPr lang="ko-KR" altLang="en-US" sz="2422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319D1C-7FE4-AE1E-B5E7-3C10076BC11F}"/>
                </a:ext>
              </a:extLst>
            </p:cNvPr>
            <p:cNvSpPr txBox="1"/>
            <p:nvPr/>
          </p:nvSpPr>
          <p:spPr>
            <a:xfrm>
              <a:off x="265972" y="36004077"/>
              <a:ext cx="12566786" cy="9633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61452" lvl="1">
                <a:defRPr/>
              </a:pPr>
              <a:r>
                <a:rPr lang="ko-KR" altLang="en-US" sz="2830" b="1" dirty="0"/>
                <a:t>➔ </a:t>
              </a:r>
              <a:r>
                <a:rPr lang="en-US" altLang="ko-KR" sz="2830" b="1" dirty="0"/>
                <a:t>No lightweight adaptation method consistently improved report generation under severe domain shift.</a:t>
              </a:r>
              <a:endParaRPr lang="en-US" altLang="ko-KR" sz="2830" b="1" dirty="0">
                <a:solidFill>
                  <a:prstClr val="black"/>
                </a:solidFill>
                <a:latin typeface="NotoSansKR"/>
                <a:ea typeface="맑은 고딕" panose="020B0503020000020004" pitchFamily="34" charset="-127"/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C4BF7A62-1B40-98D8-A409-05B76DE19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4524" y="32265580"/>
              <a:ext cx="11748592" cy="3686564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B4D6C2B-3D14-C67E-C7D8-6C0CA7FB1158}"/>
              </a:ext>
            </a:extLst>
          </p:cNvPr>
          <p:cNvGrpSpPr/>
          <p:nvPr/>
        </p:nvGrpSpPr>
        <p:grpSpPr>
          <a:xfrm>
            <a:off x="13593011" y="32975427"/>
            <a:ext cx="14608569" cy="4841594"/>
            <a:chOff x="13593011" y="32975427"/>
            <a:chExt cx="14608569" cy="484159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CBBA6E-1F45-ACE4-0C5E-82D8BD8FF088}"/>
                </a:ext>
              </a:extLst>
            </p:cNvPr>
            <p:cNvSpPr txBox="1"/>
            <p:nvPr/>
          </p:nvSpPr>
          <p:spPr>
            <a:xfrm>
              <a:off x="13593011" y="37289184"/>
              <a:ext cx="12566786" cy="5278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61452" lvl="1">
                <a:defRPr/>
              </a:pPr>
              <a:r>
                <a:rPr lang="ko-KR" altLang="en-US" sz="2830" b="1" dirty="0"/>
                <a:t>➔ </a:t>
              </a:r>
              <a:r>
                <a:rPr lang="en-US" altLang="ko-KR" sz="2830" b="1" dirty="0"/>
                <a:t>Standard NLG metrics did not consistently reflect clinical report quality.</a:t>
              </a:r>
              <a:endParaRPr lang="en-US" altLang="ko-KR" sz="2830" b="1" dirty="0">
                <a:solidFill>
                  <a:prstClr val="black"/>
                </a:solidFill>
                <a:latin typeface="NotoSansKR"/>
                <a:ea typeface="맑은 고딕" panose="020B0503020000020004" pitchFamily="34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AE0797-CB58-3C7F-5482-82A4C4976D7F}"/>
                </a:ext>
              </a:extLst>
            </p:cNvPr>
            <p:cNvSpPr txBox="1"/>
            <p:nvPr/>
          </p:nvSpPr>
          <p:spPr>
            <a:xfrm>
              <a:off x="14002107" y="32975427"/>
              <a:ext cx="14199473" cy="12105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422" b="1" dirty="0"/>
                <a:t>Table S2. </a:t>
              </a:r>
              <a:r>
                <a:rPr lang="en-US" altLang="ko-KR" sz="2422" dirty="0"/>
                <a:t>Change in qualitative scores relative to baseline (∆ = method − baseline).Positive values indicate improvement over baseline. For omission and normal template bias, positive $\Delta$ denotes fewer omissions or less bias relative to baseline.</a:t>
              </a:r>
              <a:endParaRPr lang="ko-KR" altLang="en-US" sz="2422" dirty="0"/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D233132A-A369-5734-B9D0-4EED60D52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4093547" y="34279878"/>
              <a:ext cx="12872820" cy="2969037"/>
            </a:xfrm>
            <a:prstGeom prst="rect">
              <a:avLst/>
            </a:prstGeom>
          </p:spPr>
        </p:pic>
      </p:grp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7C51A43-4F4A-DE1B-A5CF-EE6AC1E0D3EE}"/>
              </a:ext>
            </a:extLst>
          </p:cNvPr>
          <p:cNvCxnSpPr>
            <a:cxnSpLocks/>
            <a:stCxn id="31" idx="2"/>
            <a:endCxn id="16" idx="0"/>
          </p:cNvCxnSpPr>
          <p:nvPr/>
        </p:nvCxnSpPr>
        <p:spPr>
          <a:xfrm flipH="1">
            <a:off x="9677863" y="16673718"/>
            <a:ext cx="1" cy="4648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65EF9188-E4A4-0CDE-7956-B15DA5140823}"/>
              </a:ext>
            </a:extLst>
          </p:cNvPr>
          <p:cNvCxnSpPr>
            <a:cxnSpLocks/>
            <a:stCxn id="16" idx="2"/>
            <a:endCxn id="54" idx="0"/>
          </p:cNvCxnSpPr>
          <p:nvPr/>
        </p:nvCxnSpPr>
        <p:spPr>
          <a:xfrm flipH="1">
            <a:off x="9673521" y="18695328"/>
            <a:ext cx="4342" cy="8128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DC6D2349-6658-F12D-A906-7A35296B36DE}"/>
              </a:ext>
            </a:extLst>
          </p:cNvPr>
          <p:cNvCxnSpPr>
            <a:cxnSpLocks/>
            <a:stCxn id="16" idx="2"/>
            <a:endCxn id="34" idx="0"/>
          </p:cNvCxnSpPr>
          <p:nvPr/>
        </p:nvCxnSpPr>
        <p:spPr>
          <a:xfrm rot="5400000">
            <a:off x="6164825" y="15991948"/>
            <a:ext cx="809658" cy="6216419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BF286667-345F-30E3-570B-19F3AA0B08A7}"/>
              </a:ext>
            </a:extLst>
          </p:cNvPr>
          <p:cNvCxnSpPr>
            <a:cxnSpLocks/>
            <a:stCxn id="16" idx="2"/>
            <a:endCxn id="67" idx="0"/>
          </p:cNvCxnSpPr>
          <p:nvPr/>
        </p:nvCxnSpPr>
        <p:spPr>
          <a:xfrm rot="16200000" flipH="1">
            <a:off x="12393468" y="15979722"/>
            <a:ext cx="809658" cy="6240869"/>
          </a:xfrm>
          <a:prstGeom prst="bent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58200695-A42A-54E5-7012-8B9522253800}"/>
              </a:ext>
            </a:extLst>
          </p:cNvPr>
          <p:cNvGrpSpPr/>
          <p:nvPr/>
        </p:nvGrpSpPr>
        <p:grpSpPr>
          <a:xfrm>
            <a:off x="19212450" y="21003955"/>
            <a:ext cx="12028294" cy="4753505"/>
            <a:chOff x="19212450" y="21125875"/>
            <a:chExt cx="12028294" cy="4753505"/>
          </a:xfrm>
        </p:grpSpPr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3D246B5F-2881-1E82-A5CE-C39BC8062A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754155" y="21672152"/>
              <a:ext cx="3917800" cy="2760268"/>
            </a:xfrm>
            <a:prstGeom prst="rect">
              <a:avLst/>
            </a:prstGeom>
          </p:spPr>
        </p:pic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403C2C9E-7307-A73E-CE8B-441212C6A4AA}"/>
                </a:ext>
              </a:extLst>
            </p:cNvPr>
            <p:cNvGrpSpPr/>
            <p:nvPr/>
          </p:nvGrpSpPr>
          <p:grpSpPr>
            <a:xfrm>
              <a:off x="19212450" y="21125875"/>
              <a:ext cx="12028294" cy="4753505"/>
              <a:chOff x="19212450" y="17135109"/>
              <a:chExt cx="12028294" cy="4753505"/>
            </a:xfrm>
          </p:grpSpPr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9E549D3-21B5-586C-6B91-5CF21C21C66B}"/>
                  </a:ext>
                </a:extLst>
              </p:cNvPr>
              <p:cNvSpPr txBox="1"/>
              <p:nvPr/>
            </p:nvSpPr>
            <p:spPr>
              <a:xfrm>
                <a:off x="19689299" y="17135109"/>
                <a:ext cx="11551445" cy="465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422" b="1" dirty="0"/>
                  <a:t>Table 2. </a:t>
                </a:r>
                <a:r>
                  <a:rPr lang="en-US" altLang="ko-KR" sz="2422" dirty="0"/>
                  <a:t>OOD</a:t>
                </a:r>
                <a:r>
                  <a:rPr lang="ko-KR" altLang="en-US" sz="2422" dirty="0"/>
                  <a:t> </a:t>
                </a:r>
                <a:r>
                  <a:rPr lang="en-US" altLang="ko-KR" sz="2422" dirty="0"/>
                  <a:t>Detection</a:t>
                </a:r>
                <a:r>
                  <a:rPr lang="ko-KR" altLang="en-US" sz="2422" dirty="0"/>
                  <a:t> </a:t>
                </a:r>
                <a:r>
                  <a:rPr lang="en-US" altLang="ko-KR" sz="2422" dirty="0"/>
                  <a:t>performance</a:t>
                </a:r>
                <a:r>
                  <a:rPr lang="ko-KR" altLang="en-US" sz="2422" dirty="0"/>
                  <a:t> </a:t>
                </a:r>
                <a:r>
                  <a:rPr lang="en-US" altLang="ko-KR" sz="2422" dirty="0"/>
                  <a:t>of</a:t>
                </a:r>
                <a:r>
                  <a:rPr lang="ko-KR" altLang="en-US" sz="2422" dirty="0"/>
                  <a:t> </a:t>
                </a:r>
                <a:r>
                  <a:rPr lang="en-US" altLang="ko-KR" sz="2422" dirty="0" err="1"/>
                  <a:t>MetaVIB</a:t>
                </a:r>
                <a:r>
                  <a:rPr lang="en-US" altLang="ko-KR" sz="2422" dirty="0"/>
                  <a:t>.  </a:t>
                </a:r>
                <a:endParaRPr lang="ko-KR" altLang="en-US" sz="2422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5CC596BA-5533-3496-286A-A7225D2EEE3F}"/>
                  </a:ext>
                </a:extLst>
              </p:cNvPr>
              <p:cNvSpPr txBox="1"/>
              <p:nvPr/>
            </p:nvSpPr>
            <p:spPr>
              <a:xfrm>
                <a:off x="19212450" y="20489770"/>
                <a:ext cx="10610951" cy="1398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61452" lvl="1">
                  <a:defRPr/>
                </a:pPr>
                <a:r>
                  <a:rPr lang="ko-KR" altLang="en-US" sz="2830" b="1" dirty="0"/>
                  <a:t>➔ </a:t>
                </a:r>
                <a:r>
                  <a:rPr lang="en-US" altLang="ko-KR" sz="2830" b="1" dirty="0"/>
                  <a:t>There is a substantial overlap between the pseudo-domains. This suggests that view-based pseudo-OOD construction provides only weak supervision for learning domain-robust representations.</a:t>
                </a:r>
                <a:endParaRPr lang="en-US" altLang="ko-KR" sz="2830" b="1" dirty="0">
                  <a:solidFill>
                    <a:prstClr val="black"/>
                  </a:solidFill>
                  <a:latin typeface="NotoSansKR"/>
                  <a:ea typeface="맑은 고딕" panose="020B0503020000020004" pitchFamily="34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701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B2A168116282B41995400766CE89F7F" ma:contentTypeVersion="6" ma:contentTypeDescription="새 문서를 만듭니다." ma:contentTypeScope="" ma:versionID="ac0a0d0a5f20df7465034970f3ed720c">
  <xsd:schema xmlns:xsd="http://www.w3.org/2001/XMLSchema" xmlns:xs="http://www.w3.org/2001/XMLSchema" xmlns:p="http://schemas.microsoft.com/office/2006/metadata/properties" xmlns:ns3="76745a41-c160-43c6-996f-2100545e688b" targetNamespace="http://schemas.microsoft.com/office/2006/metadata/properties" ma:root="true" ma:fieldsID="38b112579223ac25759bc6edf6b78b50" ns3:_="">
    <xsd:import namespace="76745a41-c160-43c6-996f-2100545e688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45a41-c160-43c6-996f-2100545e688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6745a41-c160-43c6-996f-2100545e688b" xsi:nil="true"/>
  </documentManagement>
</p:properties>
</file>

<file path=customXml/itemProps1.xml><?xml version="1.0" encoding="utf-8"?>
<ds:datastoreItem xmlns:ds="http://schemas.openxmlformats.org/officeDocument/2006/customXml" ds:itemID="{620708D7-781E-40F8-9544-63AF7AE01A99}">
  <ds:schemaRefs>
    <ds:schemaRef ds:uri="76745a41-c160-43c6-996f-2100545e68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2EF27BE-A907-493F-B69C-D9E8BD9715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8775DB-9715-4546-8DD5-88E219B9AB8B}">
  <ds:schemaRefs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76745a41-c160-43c6-996f-2100545e688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1219</TotalTime>
  <Words>835</Words>
  <Application>Microsoft Office PowerPoint</Application>
  <PresentationFormat>사용자 지정</PresentationFormat>
  <Paragraphs>64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EHWA</vt:lpstr>
      <vt:lpstr>NotoSansKR</vt:lpstr>
      <vt:lpstr>맑은 고딕</vt:lpstr>
      <vt:lpstr>Arial</vt:lpstr>
      <vt:lpstr>Calibri</vt:lpstr>
      <vt:lpstr>Calibri Light</vt:lpstr>
      <vt:lpstr>Wingdings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Erdogan Kaya - Milk Creative &amp; Events</dc:creator>
  <cp:lastModifiedBy>민지 김</cp:lastModifiedBy>
  <cp:revision>20</cp:revision>
  <dcterms:created xsi:type="dcterms:W3CDTF">2025-07-29T05:48:00Z</dcterms:created>
  <dcterms:modified xsi:type="dcterms:W3CDTF">2026-09-03T10:25:26Z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0x0101003B2A168116282B41995400766CE89F7F</vt:lpwstr>
  </property>
</Properties>
</file>